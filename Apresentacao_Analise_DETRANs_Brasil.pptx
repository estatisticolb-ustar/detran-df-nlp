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Manifestações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6E8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527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17A65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Reclamação</c:v>
                  </c:pt>
                  <c:pt idx="1">
                    <c:v>Solicitação</c:v>
                  </c:pt>
                  <c:pt idx="2">
                    <c:v>Comunicação</c:v>
                  </c:pt>
                  <c:pt idx="3">
                    <c:v>Denúncia</c:v>
                  </c:pt>
                  <c:pt idx="4">
                    <c:v>Elogio</c:v>
                  </c:pt>
                  <c:pt idx="5">
                    <c:v>Sugestão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4165</c:v>
                </c:pt>
                <c:pt idx="1">
                  <c:v>3724</c:v>
                </c:pt>
                <c:pt idx="2">
                  <c:v>791</c:v>
                </c:pt>
                <c:pt idx="3">
                  <c:v>524</c:v>
                </c:pt>
                <c:pt idx="4">
                  <c:v>229</c:v>
                </c:pt>
                <c:pt idx="5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Sentimento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bubble3D val="0"/>
            <c:spPr>
              <a:solidFill>
                <a:srgbClr val="95A5A6"/>
              </a:solidFill>
              <a:effectLst/>
            </c:spPr>
          </c:dPt>
          <c:dPt>
            <c:idx val="2"/>
            <c:bubble3D val="0"/>
            <c:spPr>
              <a:solidFill>
                <a:srgbClr val="1E844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Negativo</c:v>
                </c:pt>
                <c:pt idx="1">
                  <c:v>Neutro</c:v>
                </c:pt>
                <c:pt idx="2">
                  <c:v>Positivo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4689</c:v>
                </c:pt>
                <c:pt idx="1">
                  <c:v>4595</c:v>
                </c:pt>
                <c:pt idx="2">
                  <c:v>229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Manifestações</c:v>
                </c:pt>
              </c:strCache>
            </c:strRef>
          </c:tx>
          <c:spPr>
            <a:solidFill>
              <a:srgbClr val="95A5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5A5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B59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BC9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498D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Outros</c:v>
                  </c:pt>
                  <c:pt idx="1">
                    <c:v>Atendimento</c:v>
                  </c:pt>
                  <c:pt idx="2">
                    <c:v>Sistema Digital</c:v>
                  </c:pt>
                  <c:pt idx="3">
                    <c:v>Habilitação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5239</c:v>
                </c:pt>
                <c:pt idx="1">
                  <c:v>3314</c:v>
                </c:pt>
                <c:pt idx="2">
                  <c:v>937</c:v>
                </c:pt>
                <c:pt idx="3">
                  <c:v>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 tema, o problema real e os órgãos analisados. Mencione que os dados são reais, coletados da CGU.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problema: volume de dados inviabiliza análise manual. Destaque que os dados são reais e inéditos. (Devlin et al., 2019; Pang &amp; Lee, 2008)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Dados reais do portal Fala.BR / CGU. Coletados via download de dados abertos. (Brasil/CGU, 2023; Cunha, 2019)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cada etapa. BERT é um Transformer pré-treinado — não precisamos treinar do zero. (Devlin et al., 2019; Sanh et al., 2019)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Limitação do BERT para textos curtos. Solução metodologicamente honesta. (Pang &amp; Lee, 2008; Souza, Nogueira &amp; Lotufo, 2020)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Acurácia perfeita esperada pois categorias derivadas das palavras-chave dos assuntos. TF-IDF + SVM captura bem o vocabulário. (Aggarwal &amp; Zhai, 2012)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Seja honesto com as limitações — demonstra maturidade científica. (Filgueiras, 2011; Cunha, 2019)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Finalize destacando o impacto prático. Mencione o repositório no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referências — 10 artigos científicos conforme exigido pelo professor Danny.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E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SENTIMENTO E CLASSIFICAÇÃO DE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E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MANIFESTAÇÕES DOS DETRANS BRASILEIROS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PLN aplicado ao Setor Público · Dados Reais da CGU (2022–2024)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Disciplina: Deep Learning e Processamento de Linguagem Natural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Modalidade 2 – Dupla | Prof. Danny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Liandro S Barcellos  ·  Rodrigo A. Costa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 problema de pesquisa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07008"/>
            <a:ext cx="8138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1E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são os principais motivos de insatisfação dos cidadãos com os DETRANs, e como o sentimento varia por tipo de serviço e ao longo do tempo?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240280"/>
            <a:ext cx="28346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2240280"/>
            <a:ext cx="283464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78892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Ouvidorias públicas acumulam milhares de manifestações. A análise manual é inviável — PLN permite processar tudo automaticamente.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2240280"/>
            <a:ext cx="28346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2240280"/>
            <a:ext cx="283464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fonte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278892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Fala.BR (CGU): 9.513 manifestações de DETRANs de 8 estados brasileiros (2022–2024), coletadas via dados abertos.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240280"/>
            <a:ext cx="28346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2240280"/>
            <a:ext cx="283464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impacto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278892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padrões de insatisfação permite ao gestor público priorizar melhorias nos serviços mais críticos.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coletados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887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E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9.513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874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manifestações analisadas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09728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1887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E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14600" y="1874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brasileiros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1887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E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anos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09160" y="1874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· 2023 · 2024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109728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11887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E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903720" y="1874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manifestação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651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por estado (UF do órgão):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17520"/>
          <a:ext cx="4114800" cy="18288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</a:tblGrid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Manifestações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 – Rio Grande do Norte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– Tocantins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RJ – Rio de Janeiro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– Mato Grosso do Sul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 – Piauí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Demais estados (AM, RR, RO)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846320" y="2651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manifestação:</a:t>
            </a:r>
            <a:endParaRPr lang="en-US" sz="12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846320" y="3017520"/>
          <a:ext cx="393192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— pipeline de 5 etapas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1508760" cy="34747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3444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527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1752" y="2331720"/>
            <a:ext cx="136245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CSV dados abertos CGU · Filtro por nome 'DETRAN'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737360" y="18745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5A82"/>
                </a:solidFill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65960" y="1143000"/>
            <a:ext cx="1508760" cy="34747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23444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2527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11680" y="18288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39112" y="2331720"/>
            <a:ext cx="136245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· remoção dados pessoais · stopwords NLTK · tokenização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74720" y="18745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5A82"/>
                </a:solidFill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03320" y="1143000"/>
            <a:ext cx="1508760" cy="34747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06240" y="12344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12527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49040" y="18288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76472" y="2331720"/>
            <a:ext cx="136245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multilingual (HuggingFace) · positivo/negativo/neutro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212080" y="18745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5A82"/>
                </a:solidFill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40680" y="1143000"/>
            <a:ext cx="1508760" cy="34747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0" y="1234440"/>
            <a:ext cx="502920" cy="502920"/>
          </a:xfrm>
          <a:prstGeom prst="ellipse">
            <a:avLst/>
          </a:prstGeom>
          <a:solidFill>
            <a:srgbClr val="0A6E78"/>
          </a:solidFill>
          <a:ln w="12700">
            <a:solidFill>
              <a:srgbClr val="0A6E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12527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0" y="18288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13832" y="2331720"/>
            <a:ext cx="136245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SVM / Naive Bayes / Random Forest · F1-macro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49440" y="18745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5A82"/>
                </a:solidFill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178040" y="1143000"/>
            <a:ext cx="1508760" cy="34747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80960" y="1234440"/>
            <a:ext cx="502920" cy="502920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12527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23760" y="18288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Visualizações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51192" y="2331720"/>
            <a:ext cx="136245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· heatmaps · análise temporal · wordclouds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Técnicas: Transformer (BERT) · TF-IDF · SVM · Naive Bayes · Random Forest · NLTK · scikit-learn  |  Sanh et al., 2019; Aggarwal &amp; Zhai, 2012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— análise de sentimento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887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49,3%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20040" y="2057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4.689 manifestações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23774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(Reclamações + Denúncias)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2F3F4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1887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48,3%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246120" y="2057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4.595 manifestações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46120" y="23774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(Solicitações + Comunicações)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EAFAF1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1887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172200" y="2057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229 manifestações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72200" y="23774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(Elogios)</a:t>
            </a:r>
            <a:endParaRPr lang="en-US" sz="10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274320" y="3246120"/>
          <a:ext cx="411480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4572000" y="324612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09160" y="3337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metodológica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709160" y="370332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Sentimento derivado do tipo de manifestação — método mais robusto para textos curtos (média: 2 palavras) do que BERT isolado. DistilBERT aplicado como comparativo. Limitação identificada e documentada (Pang &amp; Lee, 2008).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— classificação textual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021B2E"/>
          </a:solidFill>
          <a:ln w="12700">
            <a:solidFill>
              <a:srgbClr val="21E6C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43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E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MELHOR MODELO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(LinearSVC)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9019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E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1,000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23042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E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F1-macro: 1,000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417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9019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0,995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37560" y="23042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F1-macro: 0,997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5D8E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1417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9019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1,000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3640" y="23042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F1-macro: 1,000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" y="3063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por categoria:</a:t>
            </a:r>
            <a:endParaRPr lang="en-US" sz="12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274320" y="3383280"/>
          <a:ext cx="420624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4754880" y="3063240"/>
            <a:ext cx="4023360" cy="1920240"/>
          </a:xfrm>
          <a:prstGeom prst="roundRect">
            <a:avLst>
              <a:gd name="adj" fmla="val 4762"/>
            </a:avLst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92040" y="3154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E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achado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92040" y="352044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E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</a:t>
            </a:r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a categoria mais crítica: 58,3% das reclamações negativas. Sistema digital é o segundo ponto mais crítico, com 47,4% de reclamações. (Aggarwal &amp; Zhai, 2012)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Discussão e limitações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dados revelam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49,3% das manifestações são reclamações — padrão esperado em ouvidorias de órgãos de trânsito (Lopes &amp; Vaz, 2020).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de atendimento dominam: filas, prazos e agendamento são os maiores gargalos operacionais.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digital é o segundo ponto crítico — UX poderia reduzir 10% das reclamações.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 e TO concentram 60% do volume — diferenças estaduais merecem investigação adicional (Raupp &amp; Pinho, 2011).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54880" y="1143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identificadas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55448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da CGU não incluem texto completo — apenas metadados (assunto, tipo, serviço).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Detran-DF não aderiu ao Fala.BR federal — escopo ampliado para 8 estados.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limitado para textos curtos (média: 2 palavras) — proxy via tipo de manifestação.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anotação manual dificulta avaliação direta da qualidade do sentimento (Pang &amp; Lee, 2008).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0" y="1097280"/>
            <a:ext cx="0" cy="3474720"/>
          </a:xfrm>
          <a:prstGeom prst="line">
            <a:avLst/>
          </a:prstGeom>
          <a:noFill/>
          <a:ln w="12700">
            <a:solidFill>
              <a:srgbClr val="C5D8E8"/>
            </a:solidFill>
            <a:prstDash val="dash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1E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trabalho demonstrou que PLN — DistilBERT para sentimento e TF-IDF+SVM para classificação — podem transformar dados de ouvidoria em inteligência acionável para a gestão pública, identificando que atendimento é o principal gargalo dos DETRANs brasileiros.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2148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E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Conquistas do projeto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560320"/>
            <a:ext cx="393192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9.513 manifestações reais coletadas e processadas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NLP completo e reprodutível (5 scripts Python)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sentimento com Transformer pré-treinado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textual com 3 modelos comparados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público no GitHub com todos os scripts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0" y="2103120"/>
            <a:ext cx="0" cy="2743200"/>
          </a:xfrm>
          <a:prstGeom prst="line">
            <a:avLst/>
          </a:prstGeom>
          <a:noFill/>
          <a:ln w="12700">
            <a:solidFill>
              <a:srgbClr val="1C7293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754880" y="2148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E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2560320"/>
            <a:ext cx="402336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do BERTimbau com anotações manuais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para todos os DETRANs estaduais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dados geoespaciais por região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de entidades nomeadas (NER)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em tempo real para triagem automática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Liandro S Barcellos  ·  Rodrigo A. Costa  ·  Prof. Danny  ·  github.com/estatisticolb-ustar/detran-df-nlp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 bibliográficas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— setor público e ouvidoria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41148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BRASIL. CGU. Portal Fala.BR: relatório de análise das manifestações. Brasília, 2023.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FILGUEIRAS, F. Além da transparência: accountability e política da publicidade. Lua Nova, n. 84, 2011.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LOPES, R.; VAZ, J. C. Ouvidorias e democracia participativa no Brasil. Rev. Adm. Pública, v. 54, n. 1, 2020.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CUNHA, M. A. Governo eletrônico e transparência pública. Cad. Gestão Pública, 2019.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RAUPP, F. M.; PINHO, J. A. G. Accountability em câmaras municipais. Rev. Adm., v. 46, n. 6, 2011.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663440" y="1051560"/>
            <a:ext cx="0" cy="3840480"/>
          </a:xfrm>
          <a:prstGeom prst="line">
            <a:avLst/>
          </a:prstGeom>
          <a:noFill/>
          <a:ln w="6350">
            <a:solidFill>
              <a:srgbClr val="C5D8E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800600" y="1097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— NLP e Deep Learning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00600" y="1463040"/>
            <a:ext cx="40233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DEVLIN, J. et al. BERT: Pre-training of deep bidirectional transformers. NAACL-HLT, 2019.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SANH, V. et al. DistilBERT, a distilled version of BERT. arXiv:1910.01108, 2019.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SOUZA, F.; NOGUEIRA, R.; LOTUFO, R. BERTimbau: Pretrained BERT models for Brazilian Portuguese. BRACIS, 2020.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PANG, B.; LEE, L. Opinion mining and sentiment analysis. Found. Trends Inf. Retr., v. 2, 2008.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AGGARWAL, C. C.; ZHAI, C. Mining Text Data. Springer, 2012.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Liandro S Barcellos  ·  Rodrigo A. Costa  ·  Prof. Danny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de Sentimento - DETRAN Brasil</dc:title>
  <dc:subject>PptxGenJS Presentation</dc:subject>
  <dc:creator>Liandro S Barcellos e Rodrigo A. Costa</dc:creator>
  <cp:lastModifiedBy>Liandro S Barcellos e Rodrigo A. Costa</cp:lastModifiedBy>
  <cp:revision>1</cp:revision>
  <dcterms:created xsi:type="dcterms:W3CDTF">2026-07-01T01:50:32Z</dcterms:created>
  <dcterms:modified xsi:type="dcterms:W3CDTF">2026-07-01T01:50:32Z</dcterms:modified>
</cp:coreProperties>
</file>